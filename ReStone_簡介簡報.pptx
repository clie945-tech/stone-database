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-1828800" y="4114800"/>
            <a:ext cx="7315200" cy="7315200"/>
          </a:xfrm>
          <a:prstGeom prst="hexagon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5400000">
            <a:off x="1645920" y="1737360"/>
            <a:ext cx="1280160" cy="1280160"/>
          </a:xfrm>
          <a:prstGeom prst="hexag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029968" y="2121408"/>
            <a:ext cx="512063" cy="512063"/>
          </a:xfrm>
          <a:prstGeom prst="diamond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ReStone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7432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  <a:latin typeface="Microsoft JhengHei"/>
              </a:rPr>
              <a:t>循環石材服務平台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246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Circular Stone Service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931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</a:rPr>
              <a:t>AI 驅動的循環石材設計平台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343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AI-Powered Design Platform for Sustainable 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功能簡介簡報  ·  Product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2026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Microsoft JhengHei"/>
              </a:rPr>
              <a:t>簡報大綱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平台願景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Platform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5113" y="182880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9433" y="21031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9433" y="215798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9433" y="274320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核心功能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9433" y="312724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Core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82880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4467" y="21031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467" y="215798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4467" y="274320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AI 旗艦：設計合成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12724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Flagship: AI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5181" y="182880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69501" y="21031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9501" y="215798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501" y="274320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六大 AI 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9501" y="312724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6 AI Engines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3192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使用者角色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036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User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5113" y="393192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99433" y="42062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9433" y="426110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99433" y="484632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技術架構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9433" y="523036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Tech Stack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7" y="393192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84467" y="42062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4467" y="426110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4467" y="484632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資安合規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4467" y="523036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5181" y="3931920"/>
            <a:ext cx="2556433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69501" y="42062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9501" y="426110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9501" y="4846320"/>
            <a:ext cx="20077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Microsoft JhengHei"/>
              </a:rPr>
              <a:t>成本結構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9501" y="5230368"/>
            <a:ext cx="200779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Cost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從找料目錄，升級為 AI 設計工具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From Catalog to AI-Powered Design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Microsoft JhengHei"/>
              </a:rPr>
              <a:t>⚠ 業界痛點 /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63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提案改了七版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832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Seven revisions, still uncertain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客戶看不懂規格表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60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Spec sheets don't sell to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每張合成圖 30 分鐘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30 mins per Photoshop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949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剩料、邊角料賣不掉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71499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Circular stones sit unsold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2860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Microsoft JhengHei"/>
              </a:rPr>
              <a:t>✓ ReStone 解法 / Our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08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30 秒 AI 合成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3832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30-second AI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86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即時視覺化說服客戶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160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Instant visual proposals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一鍵套用，無需軟體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9377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One-click, no software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3949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icrosoft JhengHei"/>
              </a:rPr>
              <a:t>剩料精準曝光給對的設計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71499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Right stones, right designs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六大 AI 引擎，深度整合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Six AI Engines, Deeply Embedded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84778" cy="2194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19" y="24231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4871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icrosoft JhengHei"/>
              </a:rP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2004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JhengHei"/>
              </a:rPr>
              <a:t>AI 設計合成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520439"/>
            <a:ext cx="2844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AI Design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794760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JhengHei"/>
              </a:rPr>
              <a:t>Flux Fill Pro inpainting，30 秒套上石材紋理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2103120"/>
            <a:ext cx="3484778" cy="2194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3498" y="24231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498" y="24871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icrosoft JhengHei"/>
              </a:rPr>
              <a:t>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JhengHei"/>
              </a:rPr>
              <a:t>視覺分析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520439"/>
            <a:ext cx="2844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Vision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498" y="3794760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JhengHei"/>
              </a:rPr>
              <a:t>LLaVA 看石材照片，自動寫精準描述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103120"/>
            <a:ext cx="3484778" cy="2194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6876" y="24231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6876" y="24871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icrosoft JhengHe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004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JhengHei"/>
              </a:rPr>
              <a:t>以圖搜圖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6876" y="3520439"/>
            <a:ext cx="2844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Image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6876" y="3794760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JhengHei"/>
              </a:rPr>
              <a:t>pHash + RGB 雙軸比對，秒找相似石材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26279"/>
            <a:ext cx="3484778" cy="2194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19" y="4846319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" y="4910327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icrosoft JhengHei"/>
              </a:rPr>
              <a:t>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5623559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JhengHei"/>
              </a:rPr>
              <a:t>顏色偵測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5943599"/>
            <a:ext cx="2844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Color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19" y="6217919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JhengHei"/>
              </a:rPr>
              <a:t>HSV 色彩空間自動分類 8 種顏色標籤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3458" y="4526279"/>
            <a:ext cx="3484778" cy="2194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73498" y="4846319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3498" y="4910327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icrosoft JhengHei"/>
              </a:rP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3498" y="5623559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JhengHei"/>
              </a:rPr>
              <a:t>Prompt 工程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3498" y="5943599"/>
            <a:ext cx="2844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Prompt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3498" y="6217919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JhengHei"/>
              </a:rPr>
              <a:t>三層 fallback：人工 → 視覺 AI → 模板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6836" y="4526279"/>
            <a:ext cx="3484778" cy="2194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86876" y="4846319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6876" y="4910327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icrosoft JhengHei"/>
              </a:rPr>
              <a:t>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6876" y="5623559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icrosoft JhengHei"/>
              </a:rPr>
              <a:t>語義搜尋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6876" y="5943599"/>
            <a:ext cx="2844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Semantic 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6876" y="6217919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JhengHei"/>
              </a:rPr>
              <a:t>中英同義詞自動展開，跨語言匹配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9144000" y="-1828800"/>
            <a:ext cx="7315200" cy="7315200"/>
          </a:xfrm>
          <a:prstGeom prst="hexagon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-2743200" y="4572000"/>
            <a:ext cx="5486400" cy="5486400"/>
          </a:xfrm>
          <a:prstGeom prst="hexagon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4864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⭐ FLAGSHIP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JhengHei"/>
              </a:rPr>
              <a:t>AI 設計合成工具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60A5FA"/>
                </a:solidFill>
                <a:latin typeface="Calibri"/>
              </a:rPr>
              <a:t>AI Design Synthesis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icrosoft JhengHei"/>
              </a:rPr>
              <a:t>30 秒，把任何石材紋理套上你的設計圖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Apply any stone texture to your design in 30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767" y="384048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8087" y="41148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8087" y="4187952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087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上傳設計圖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087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Upload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087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Microsoft JhengHei"/>
              </a:rPr>
              <a:t>室內、家具、產品皆可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9927" y="384048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24247" y="41148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4247" y="4187952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247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筆刷圈選區域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247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Mask Surface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247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Microsoft JhengHei"/>
              </a:rPr>
              <a:t>牆面、桌面、地板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6087" y="384048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63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90407" y="41148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4187952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407" y="4800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AI 合成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407" y="5166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AI 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407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Microsoft JhengHei"/>
              </a:rPr>
              <a:t>30 秒商業級成圖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POWERED BY  ·  Replicate Flux Fill Pro  ·  Member-only feature  ·  NT$1.5 per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AI 技術骨幹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AI Technology Stack — Cost-Effective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Microsoft JhengHei"/>
              </a:rPr>
              <a:t>🤖 AI 服務 / AI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303520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Flux Fill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Black Forest Labs · 設計合成 inpainting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614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~NT$1.5/張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5303520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LLaVA v1.6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Microsoft Research · 視覺看圖寫描述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79476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1304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~NT$0.5/張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72000"/>
            <a:ext cx="5303520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Pillow + ImageHash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Open Source · 以圖搜圖、顏色偵測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846320"/>
            <a:ext cx="128016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864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免費 / 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Microsoft JhengHei"/>
              </a:rPr>
              <a:t>⚙ 本機處理 / Local 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468880"/>
            <a:ext cx="5120640" cy="77724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635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560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語義搜尋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85292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Synonym 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03580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icrosoft JhengHei"/>
              </a:rPr>
              <a:t>純 Python 字典查找，零延遲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37560"/>
            <a:ext cx="5120640" cy="77724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635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429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HEIC → JPG 轉檔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72160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Format Normalize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90448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icrosoft JhengHei"/>
              </a:rPr>
              <a:t>iPhone 照片自動相容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06240"/>
            <a:ext cx="5120640" cy="77724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635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29767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AI Prompt 三層機制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59028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Prompt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7731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icrosoft JhengHei"/>
              </a:rPr>
              <a:t>人工 → 視覺 AI → 模板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074920"/>
            <a:ext cx="5120640" cy="77724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635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16635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感知雜湊索引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4589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pHash Indexing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6418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Microsoft JhengHei"/>
              </a:rPr>
              <a:t>上傳即建索引，無需訓練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三種角色，分層權限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Three Roles, Layered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201168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8167" y="2377440"/>
            <a:ext cx="822960" cy="82296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8167" y="2450592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Microsoft JhengHe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47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Microsoft JhengHei"/>
              </a:rPr>
              <a:t>訪客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Public Visitor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047" y="4160520"/>
            <a:ext cx="27432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647" y="43434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瀏覽石材庫存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4727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47274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搜尋與篩選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607" y="5111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647" y="51114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AI 以圖搜圖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607" y="5495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647" y="54955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用量計算機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07" y="5879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647" y="58795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Microsoft JhengHei"/>
              </a:rPr>
              <a:t>詢價、設計工具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7047" y="201168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84367" y="237744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4367" y="2450592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Microsoft JhengHei"/>
              </a:rP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7047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Microsoft JhengHei"/>
              </a:rPr>
              <a:t>會員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047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Member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4247" y="4160520"/>
            <a:ext cx="27432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807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2847" y="43434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訪客全部功能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2807" y="4727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2847" y="47274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送出詢價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2807" y="5111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2847" y="51114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AI 設計合成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2807" y="5495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2847" y="54955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詢問紀錄追蹤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2807" y="5879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2847" y="58795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個人帳號管理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3247" y="201168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70567" y="23774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0567" y="2450592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Microsoft JhengHei"/>
              </a:rPr>
              <a:t>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3247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Microsoft JhengHei"/>
              </a:rPr>
              <a:t>管理員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3247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Administrator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10447" y="4160520"/>
            <a:ext cx="27432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9007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9047" y="43434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石材 CRUD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19007" y="4727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39047" y="47274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會員管理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9007" y="5111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9047" y="51114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詢問狀態維護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19007" y="5495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39047" y="549554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Excel 匯出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19007" y="5879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9047" y="58795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AI Prompt 編輯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Tech Stack — Lightweight, Modern, Cloud-Native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84778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37743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42316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Microsoft JhengHei"/>
              </a:rPr>
              <a:t>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50591"/>
            <a:ext cx="2204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JhengHei"/>
              </a:rPr>
              <a:t>後端 Backend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200400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108960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Python 3.9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5643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364991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Flask 3.1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712463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21024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SQLite + WAL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968496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3877056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Werkzeug 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3458" y="2103120"/>
            <a:ext cx="3484778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73498" y="237743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3498" y="242316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Microsoft JhengHe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578" y="2450591"/>
            <a:ext cx="2204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JhengHei"/>
              </a:rPr>
              <a:t>AI 服務 AI Services</a:t>
            </a:r>
          </a:p>
        </p:txBody>
      </p:sp>
      <p:sp>
        <p:nvSpPr>
          <p:cNvPr id="22" name="Oval 21"/>
          <p:cNvSpPr/>
          <p:nvPr/>
        </p:nvSpPr>
        <p:spPr>
          <a:xfrm>
            <a:off x="4719218" y="320040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2098" y="3108960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Replicate</a:t>
            </a:r>
          </a:p>
        </p:txBody>
      </p:sp>
      <p:sp>
        <p:nvSpPr>
          <p:cNvPr id="24" name="Oval 23"/>
          <p:cNvSpPr/>
          <p:nvPr/>
        </p:nvSpPr>
        <p:spPr>
          <a:xfrm>
            <a:off x="4719218" y="345643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2098" y="3364991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Flux Fill Pro</a:t>
            </a:r>
          </a:p>
        </p:txBody>
      </p:sp>
      <p:sp>
        <p:nvSpPr>
          <p:cNvPr id="26" name="Oval 25"/>
          <p:cNvSpPr/>
          <p:nvPr/>
        </p:nvSpPr>
        <p:spPr>
          <a:xfrm>
            <a:off x="4719218" y="3712463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2098" y="3621024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LLaVA v1.6</a:t>
            </a:r>
          </a:p>
        </p:txBody>
      </p:sp>
      <p:sp>
        <p:nvSpPr>
          <p:cNvPr id="28" name="Oval 27"/>
          <p:cNvSpPr/>
          <p:nvPr/>
        </p:nvSpPr>
        <p:spPr>
          <a:xfrm>
            <a:off x="4719218" y="3968496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2098" y="3877056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Pillow + ImageHash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6836" y="2103120"/>
            <a:ext cx="3484778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86876" y="237743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6876" y="242316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Microsoft JhengHei"/>
              </a:rPr>
              <a:t>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6956" y="2450591"/>
            <a:ext cx="2204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JhengHei"/>
              </a:rPr>
              <a:t>部署 Deployment</a:t>
            </a:r>
          </a:p>
        </p:txBody>
      </p:sp>
      <p:sp>
        <p:nvSpPr>
          <p:cNvPr id="34" name="Oval 33"/>
          <p:cNvSpPr/>
          <p:nvPr/>
        </p:nvSpPr>
        <p:spPr>
          <a:xfrm>
            <a:off x="8432596" y="3200400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5476" y="3108960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Railway PaaS</a:t>
            </a:r>
          </a:p>
        </p:txBody>
      </p:sp>
      <p:sp>
        <p:nvSpPr>
          <p:cNvPr id="36" name="Oval 35"/>
          <p:cNvSpPr/>
          <p:nvPr/>
        </p:nvSpPr>
        <p:spPr>
          <a:xfrm>
            <a:off x="8432596" y="3456432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15476" y="3364991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Gunicorn</a:t>
            </a:r>
          </a:p>
        </p:txBody>
      </p:sp>
      <p:sp>
        <p:nvSpPr>
          <p:cNvPr id="38" name="Oval 37"/>
          <p:cNvSpPr/>
          <p:nvPr/>
        </p:nvSpPr>
        <p:spPr>
          <a:xfrm>
            <a:off x="8432596" y="3712463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5476" y="3621024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Volume 持久化</a:t>
            </a:r>
          </a:p>
        </p:txBody>
      </p:sp>
      <p:sp>
        <p:nvSpPr>
          <p:cNvPr id="40" name="Oval 39"/>
          <p:cNvSpPr/>
          <p:nvPr/>
        </p:nvSpPr>
        <p:spPr>
          <a:xfrm>
            <a:off x="8432596" y="3968496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5476" y="3877056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GitHub 自動部署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434840"/>
            <a:ext cx="3484778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0119" y="470915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19" y="4754879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Microsoft JhengHei"/>
              </a:rPr>
              <a:t>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4782312"/>
            <a:ext cx="2204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JhengHei"/>
              </a:rPr>
              <a:t>安全 Security</a:t>
            </a:r>
          </a:p>
        </p:txBody>
      </p:sp>
      <p:sp>
        <p:nvSpPr>
          <p:cNvPr id="46" name="Oval 45"/>
          <p:cNvSpPr/>
          <p:nvPr/>
        </p:nvSpPr>
        <p:spPr>
          <a:xfrm>
            <a:off x="1005840" y="5532119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19" y="5440679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PBKDF2-SHA256</a:t>
            </a:r>
          </a:p>
        </p:txBody>
      </p:sp>
      <p:sp>
        <p:nvSpPr>
          <p:cNvPr id="48" name="Oval 47"/>
          <p:cNvSpPr/>
          <p:nvPr/>
        </p:nvSpPr>
        <p:spPr>
          <a:xfrm>
            <a:off x="1005840" y="5788151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19" y="5696712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Session 雙軌</a:t>
            </a:r>
          </a:p>
        </p:txBody>
      </p:sp>
      <p:sp>
        <p:nvSpPr>
          <p:cNvPr id="50" name="Oval 49"/>
          <p:cNvSpPr/>
          <p:nvPr/>
        </p:nvSpPr>
        <p:spPr>
          <a:xfrm>
            <a:off x="1005840" y="6044183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19" y="5952744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CSRF Token</a:t>
            </a:r>
          </a:p>
        </p:txBody>
      </p:sp>
      <p:sp>
        <p:nvSpPr>
          <p:cNvPr id="52" name="Oval 51"/>
          <p:cNvSpPr/>
          <p:nvPr/>
        </p:nvSpPr>
        <p:spPr>
          <a:xfrm>
            <a:off x="1005840" y="6300215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88719" y="6208775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TLS 1.3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53458" y="4434840"/>
            <a:ext cx="3484778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673498" y="470915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73498" y="4754879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Microsoft JhengHei"/>
              </a:rPr>
              <a:t>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13578" y="4782312"/>
            <a:ext cx="2204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JhengHei"/>
              </a:rPr>
              <a:t>通訊 Communications</a:t>
            </a:r>
          </a:p>
        </p:txBody>
      </p:sp>
      <p:sp>
        <p:nvSpPr>
          <p:cNvPr id="58" name="Oval 57"/>
          <p:cNvSpPr/>
          <p:nvPr/>
        </p:nvSpPr>
        <p:spPr>
          <a:xfrm>
            <a:off x="4719218" y="5532119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02098" y="5440679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Flask-Mail</a:t>
            </a:r>
          </a:p>
        </p:txBody>
      </p:sp>
      <p:sp>
        <p:nvSpPr>
          <p:cNvPr id="60" name="Oval 59"/>
          <p:cNvSpPr/>
          <p:nvPr/>
        </p:nvSpPr>
        <p:spPr>
          <a:xfrm>
            <a:off x="4719218" y="5788151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02098" y="5696712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Gmail SMTP</a:t>
            </a:r>
          </a:p>
        </p:txBody>
      </p:sp>
      <p:sp>
        <p:nvSpPr>
          <p:cNvPr id="62" name="Oval 61"/>
          <p:cNvSpPr/>
          <p:nvPr/>
        </p:nvSpPr>
        <p:spPr>
          <a:xfrm>
            <a:off x="4719218" y="6044183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02098" y="5952744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TLS 加密</a:t>
            </a:r>
          </a:p>
        </p:txBody>
      </p:sp>
      <p:sp>
        <p:nvSpPr>
          <p:cNvPr id="64" name="Oval 63"/>
          <p:cNvSpPr/>
          <p:nvPr/>
        </p:nvSpPr>
        <p:spPr>
          <a:xfrm>
            <a:off x="4719218" y="6300215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02098" y="6208775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Email 通知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66836" y="4434840"/>
            <a:ext cx="3484778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386876" y="470915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86876" y="4754879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Microsoft JhengHei"/>
              </a:rPr>
              <a:t>📊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26956" y="4782312"/>
            <a:ext cx="2204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icrosoft JhengHei"/>
              </a:rPr>
              <a:t>匯出 Data Export</a:t>
            </a:r>
          </a:p>
        </p:txBody>
      </p:sp>
      <p:sp>
        <p:nvSpPr>
          <p:cNvPr id="70" name="Oval 69"/>
          <p:cNvSpPr/>
          <p:nvPr/>
        </p:nvSpPr>
        <p:spPr>
          <a:xfrm>
            <a:off x="8432596" y="5532119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15476" y="5440679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openpyxl</a:t>
            </a:r>
          </a:p>
        </p:txBody>
      </p:sp>
      <p:sp>
        <p:nvSpPr>
          <p:cNvPr id="72" name="Oval 71"/>
          <p:cNvSpPr/>
          <p:nvPr/>
        </p:nvSpPr>
        <p:spPr>
          <a:xfrm>
            <a:off x="8432596" y="5788151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15476" y="5696712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Excel .xlsx</a:t>
            </a:r>
          </a:p>
        </p:txBody>
      </p:sp>
      <p:sp>
        <p:nvSpPr>
          <p:cNvPr id="74" name="Oval 73"/>
          <p:cNvSpPr/>
          <p:nvPr/>
        </p:nvSpPr>
        <p:spPr>
          <a:xfrm>
            <a:off x="8432596" y="6044183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15476" y="5952744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即時生成</a:t>
            </a:r>
          </a:p>
        </p:txBody>
      </p:sp>
      <p:sp>
        <p:nvSpPr>
          <p:cNvPr id="76" name="Oval 75"/>
          <p:cNvSpPr/>
          <p:nvPr/>
        </p:nvSpPr>
        <p:spPr>
          <a:xfrm>
            <a:off x="8432596" y="6300215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15476" y="6208775"/>
            <a:ext cx="26618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一鍵下載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資安合規與資料保護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Security &amp; Compliance — Aligned with MOEA Guidelines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2103120"/>
            <a:ext cx="3657600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43887" y="233172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43887" y="240487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Microsoft JhengHei"/>
              </a:rPr>
              <a:t>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47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Microsoft JhengHei"/>
              </a:rPr>
              <a:t>排除中資技術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3547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No Chinese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40233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4023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全部 18 項組件已稽核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435254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207" y="43525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No TikTok / Tencent / Alibaba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468172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207" y="46817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No .cn 網域引用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887" y="50109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207" y="50109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符合行政院限制使用原則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7047" y="2103120"/>
            <a:ext cx="3657600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30087" y="233172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30087" y="240487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Microsoft JhengHei"/>
              </a:rP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047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Microsoft JhengHei"/>
              </a:rPr>
              <a:t>資料保護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047" y="3547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Data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087" y="40233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1407" y="4023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PBKDF2-SHA256 密碼雜湊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7087" y="435254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1407" y="43525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TLS 1.3 全程加密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7087" y="468172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1407" y="46817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Session 雙軌隔離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7087" y="50109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1407" y="50109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會員 / 管理員權限分離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3247" y="2103120"/>
            <a:ext cx="3657600" cy="3474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16287" y="233172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6287" y="2404872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3247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Microsoft JhengHei"/>
              </a:rPr>
              <a:t>法規遵循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3247" y="3547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Regulatory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3287" y="40233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7607" y="4023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個人資料保護法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3287" y="435254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7607" y="43525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資通安全管理法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3287" y="468172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7607" y="46817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經濟部產業發展署規範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3287" y="50109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7607" y="50109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icrosoft JhengHei"/>
              </a:rPr>
              <a:t>GDPR / SOC 2 相容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📑 已備齊三份正式合規文件：技術組件聲明書、資安自評表、資料流向圖（共 11 頁）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62636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Three official compliance documents prepared: Components Declaration, Security Self-Assessment, Data Flow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成本結構：用多少 · 付多少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Usage-Based Pricing — Zero When Idle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4114800" cy="4297680"/>
          </a:xfrm>
          <a:prstGeom prst="roundRect">
            <a:avLst>
              <a:gd name="adj" fmla="val 4000"/>
            </a:avLst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MONTHLY FIXED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Microsoft JhengHei"/>
              </a:rPr>
              <a:t>月固定成本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10B981"/>
                </a:solidFill>
                <a:latin typeface="Calibri"/>
              </a:rPr>
              <a:t>NT$0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不需月費 / 沒人用就 0 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No subscription · No minimum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349240"/>
            <a:ext cx="3749039" cy="13716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  <a:latin typeface="Microsoft JhengHei"/>
              </a:rPr>
              <a:t>✓ 完整功能、無限會員、無限石材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✓ All features, unlimited members &amp; 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Microsoft JhengHei"/>
              </a:rPr>
              <a:t>💳 隨用計費 / Usage-Based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606040"/>
            <a:ext cx="6400800" cy="640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63EB"/>
                </a:solidFill>
                <a:latin typeface="Microsoft JhengHei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6700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AI 設計合成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53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AI Design 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1576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7C3AED"/>
                </a:solidFill>
                <a:latin typeface="Calibri"/>
              </a:rPr>
              <a:t>~NT$1.5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9008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/張 per image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3319272"/>
            <a:ext cx="6400800" cy="640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3456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63EB"/>
                </a:solidFill>
                <a:latin typeface="Microsoft JhengHei"/>
              </a:rPr>
              <a:t>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38327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AI 視覺分析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6667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AI Vision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29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7C3AED"/>
                </a:solidFill>
                <a:latin typeface="Calibri"/>
              </a:rPr>
              <a:t>~NT$0.5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703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/張 per image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4032504"/>
            <a:ext cx="6400800" cy="640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1696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63EB"/>
                </a:solidFill>
                <a:latin typeface="Microsoft JhengHei"/>
              </a:rPr>
              <a:t>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0965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Railway 主機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3799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Railway Hosting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1422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7C3AED"/>
                </a:solidFill>
                <a:latin typeface="Calibri"/>
              </a:rPr>
              <a:t>NT$0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4165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免費額度內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4745736"/>
            <a:ext cx="6400800" cy="640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48828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63EB"/>
                </a:solidFill>
                <a:latin typeface="Microsoft JhengHei"/>
              </a:rPr>
              <a:t>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80974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Volume 儲存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50932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Persistent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85546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7C3AED"/>
                </a:solidFill>
                <a:latin typeface="Calibri"/>
              </a:rPr>
              <a:t>~NT$8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129783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/GB/月 per GB/month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80" y="5458968"/>
            <a:ext cx="6400800" cy="640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5596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563EB"/>
                </a:solidFill>
                <a:latin typeface="Microsoft JhengHei"/>
              </a:rPr>
              <a:t>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552297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icrosoft JhengHei"/>
              </a:rPr>
              <a:t>Email 通知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806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Email 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5686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 i="0">
                <a:solidFill>
                  <a:srgbClr val="7C3AED"/>
                </a:solidFill>
                <a:latin typeface="Calibri"/>
              </a:rPr>
              <a:t>NT$0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84301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不額外收費 free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Microsoft JhengHei"/>
              </a:rPr>
              <a:t>產品演進路線圖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Product Evolution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2788920"/>
            <a:ext cx="86868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81047" y="25603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633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847" y="320040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847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Microsoft JhengHei"/>
              </a:rPr>
              <a:t>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847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SHORT-TERM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847" y="4041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1-3 個月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45262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207" y="45079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SAM 自動辨識區域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207" y="47274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Auto surface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49834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207" y="49651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合成歷史紀錄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207" y="51846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Generation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87" y="54406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207" y="5422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並排比對模式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207" y="56418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Side-by-side 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887" y="58978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207" y="58795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行動裝置優化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207" y="60990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Mobile UX polish</a:t>
            </a:r>
          </a:p>
        </p:txBody>
      </p:sp>
      <p:sp>
        <p:nvSpPr>
          <p:cNvPr id="25" name="Oval 24"/>
          <p:cNvSpPr/>
          <p:nvPr/>
        </p:nvSpPr>
        <p:spPr>
          <a:xfrm>
            <a:off x="5867247" y="25603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7247" y="2633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7047" y="320040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047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Microsoft JhengHei"/>
              </a:rPr>
              <a:t>中期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047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Calibri"/>
              </a:rPr>
              <a:t>MID-TERM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7047" y="4041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3-6 個月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7087" y="45262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1407" y="45079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Claude / GPT 風格推薦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1407" y="47274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AI style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7087" y="49834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1407" y="49651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多角度合成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1407" y="51846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Multi-angle synthesis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87087" y="54406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1407" y="5422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業主後台分析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1407" y="56418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Vendor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7087" y="58978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1407" y="58795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白牌授權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1407" y="60990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White-label licensing</a:t>
            </a:r>
          </a:p>
        </p:txBody>
      </p:sp>
      <p:sp>
        <p:nvSpPr>
          <p:cNvPr id="43" name="Oval 42"/>
          <p:cNvSpPr/>
          <p:nvPr/>
        </p:nvSpPr>
        <p:spPr>
          <a:xfrm>
            <a:off x="9753447" y="256032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3447" y="2633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53247" y="320040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53247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Microsoft JhengHei"/>
              </a:rPr>
              <a:t>長期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3247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C4899"/>
                </a:solidFill>
                <a:latin typeface="Calibri"/>
              </a:rPr>
              <a:t>LONG-TERM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3247" y="4041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6+ 個月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3287" y="45262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47607" y="45079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跨材質 SaaS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47607" y="47274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Cross-material SaaS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73287" y="49834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47607" y="49651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木材 / 皮革 / 磁磚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7607" y="51846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Wood / Leather / Tile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73287" y="54406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47607" y="54223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東南亞市場拓展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47607" y="56418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SEA market expansion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3287" y="58978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47607" y="58795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Microsoft JhengHei"/>
              </a:rPr>
              <a:t>循環經濟生態系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47607" y="60990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Circular economy ecosystem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7315200" y="-2743200"/>
            <a:ext cx="9144000" cy="9144000"/>
          </a:xfrm>
          <a:prstGeom prst="hexagon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-2743200" y="4572000"/>
            <a:ext cx="6400800" cy="6400800"/>
          </a:xfrm>
          <a:prstGeom prst="hexagon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 rot="5400000">
            <a:off x="5257800" y="1371600"/>
            <a:ext cx="1645920" cy="1645920"/>
          </a:xfrm>
          <a:prstGeom prst="hexagon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5751576" y="1865376"/>
            <a:ext cx="658368" cy="658368"/>
          </a:xfrm>
          <a:prstGeom prst="diamond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JhengHei"/>
              </a:rPr>
              <a:t>讓每一塊石材，找到對的設計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60A5FA"/>
                </a:solidFill>
                <a:latin typeface="Calibri"/>
              </a:rPr>
              <a:t>Let Every Stone Find Its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120640"/>
            <a:ext cx="5790895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5285232"/>
            <a:ext cx="5790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stone-database-production.up.railway.app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— ReStone 循環石材服務平台 · Made for Sustainable Design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2026 · Thank you  ·  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