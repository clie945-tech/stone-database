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5400000">
            <a:off x="685800" y="457200"/>
            <a:ext cx="640080" cy="640080"/>
          </a:xfrm>
          <a:prstGeom prst="hexagon">
            <a:avLst/>
          </a:prstGeom>
          <a:solidFill>
            <a:srgbClr val="5B8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877824" y="649224"/>
            <a:ext cx="256031" cy="256031"/>
          </a:xfrm>
          <a:prstGeom prst="diamond">
            <a:avLst/>
          </a:prstGeom>
          <a:solidFill>
            <a:srgbClr val="9B8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C2A33"/>
                </a:solidFill>
                <a:latin typeface="Helvetica Neue"/>
              </a:rPr>
              <a:t>ReStone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960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878"/>
                </a:solidFill>
                <a:latin typeface="Microsoft JhengHei"/>
              </a:rPr>
              <a:t>循環石材服務平台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59436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B9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640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6B6878"/>
                </a:solidFill>
                <a:latin typeface="Microsoft JhengHei"/>
              </a:rPr>
              <a:t>這個平台給誰用？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C2A33"/>
                </a:solidFill>
                <a:latin typeface="Microsoft JhengHei"/>
              </a:rPr>
              <a:t>三種人，原本都有點困擾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878"/>
                </a:solidFill>
                <a:latin typeface="Microsoft JhengHei"/>
              </a:rPr>
              <a:t>讓設計師、廠商、客戶在同一個地方，找到對的石頭。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867" y="292608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FE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98167" y="3246120"/>
            <a:ext cx="1005840" cy="1005840"/>
          </a:xfrm>
          <a:prstGeom prst="ellipse">
            <a:avLst/>
          </a:prstGeom>
          <a:solidFill>
            <a:srgbClr val="FFE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867" y="338328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 i="0">
                <a:solidFill>
                  <a:srgbClr val="2C2A33"/>
                </a:solidFill>
                <a:latin typeface="Microsoft JhengHei"/>
              </a:rPr>
              <a:t>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867" y="443484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C2A33"/>
                </a:solidFill>
                <a:latin typeface="Microsoft JhengHei"/>
              </a:rPr>
              <a:t>石材廠商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" y="4892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9B98A8"/>
                </a:solidFill>
                <a:latin typeface="Microsoft JhengHei"/>
              </a:rPr>
              <a:t>他們的煩惱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187" y="5212080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878"/>
                </a:solidFill>
                <a:latin typeface="Microsoft JhengHei"/>
              </a:rPr>
              <a:t>倉庫裡的剩料很美，
但設計師看不到，賣不掉。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5627" y="292608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6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92927" y="3246120"/>
            <a:ext cx="1005840" cy="1005840"/>
          </a:xfrm>
          <a:prstGeom prst="ellipse">
            <a:avLst/>
          </a:prstGeom>
          <a:solidFill>
            <a:srgbClr val="D6E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5627" y="338328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 i="0">
                <a:solidFill>
                  <a:srgbClr val="2C2A33"/>
                </a:solidFill>
                <a:latin typeface="Microsoft JhengHei"/>
              </a:rPr>
              <a:t>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5627" y="443484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C2A33"/>
                </a:solidFill>
                <a:latin typeface="Microsoft JhengHei"/>
              </a:rPr>
              <a:t>設計師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5627" y="4892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9B98A8"/>
                </a:solidFill>
                <a:latin typeface="Microsoft JhengHei"/>
              </a:rPr>
              <a:t>他們的煩惱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9947" y="5212080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878"/>
                </a:solidFill>
                <a:latin typeface="Microsoft JhengHei"/>
              </a:rPr>
              <a:t>翻 Excel 找料費時，
客戶又看不懂規格表。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0387" y="292608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F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87687" y="3246120"/>
            <a:ext cx="1005840" cy="1005840"/>
          </a:xfrm>
          <a:prstGeom prst="ellipse">
            <a:avLst/>
          </a:prstGeom>
          <a:solidFill>
            <a:srgbClr val="FF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0387" y="338328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 i="0">
                <a:solidFill>
                  <a:srgbClr val="2C2A33"/>
                </a:solidFill>
                <a:latin typeface="Microsoft JhengHei"/>
              </a:rPr>
              <a:t>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0387" y="443484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C2A33"/>
                </a:solidFill>
                <a:latin typeface="Microsoft JhengHei"/>
              </a:rPr>
              <a:t>客戶 / 屋主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0387" y="4892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9B98A8"/>
                </a:solidFill>
                <a:latin typeface="Microsoft JhengHei"/>
              </a:rPr>
              <a:t>他們的煩惱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4707" y="5212080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878"/>
                </a:solidFill>
                <a:latin typeface="Microsoft JhengHei"/>
              </a:rPr>
              <a:t>看著名稱想像不出來，
不敢決定下單。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B98A8"/>
                </a:solidFill>
                <a:latin typeface="Microsoft JhengHei"/>
              </a:rPr>
              <a:t>讓每一塊石材，找到對的設計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4465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B98A8"/>
                </a:solidFill>
                <a:latin typeface="Helvetica Neue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5400000">
            <a:off x="685800" y="457200"/>
            <a:ext cx="640080" cy="640080"/>
          </a:xfrm>
          <a:prstGeom prst="hexagon">
            <a:avLst/>
          </a:prstGeom>
          <a:solidFill>
            <a:srgbClr val="5B8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877824" y="649224"/>
            <a:ext cx="256031" cy="256031"/>
          </a:xfrm>
          <a:prstGeom prst="diamond">
            <a:avLst/>
          </a:prstGeom>
          <a:solidFill>
            <a:srgbClr val="9B8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C2A33"/>
                </a:solidFill>
                <a:latin typeface="Helvetica Neue"/>
              </a:rPr>
              <a:t>ReStone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960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878"/>
                </a:solidFill>
                <a:latin typeface="Microsoft JhengHei"/>
              </a:rPr>
              <a:t>循環石材服務平台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59436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B9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640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6B6878"/>
                </a:solidFill>
                <a:latin typeface="Microsoft JhengHei"/>
              </a:rPr>
              <a:t>怎麼運作？只要 30 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C2A33"/>
                </a:solidFill>
                <a:latin typeface="Microsoft JhengHei"/>
              </a:rPr>
              <a:t>三個動作，就有完成圖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878"/>
                </a:solidFill>
                <a:latin typeface="Microsoft JhengHei"/>
              </a:rPr>
              <a:t>AI 幫每個人做最累的事，三方在同一個地方找到對的石頭。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047" y="2743200"/>
            <a:ext cx="32004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6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2367" y="2971800"/>
            <a:ext cx="502920" cy="502920"/>
          </a:xfrm>
          <a:prstGeom prst="ellipse">
            <a:avLst/>
          </a:prstGeom>
          <a:solidFill>
            <a:srgbClr val="5B8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2367" y="299923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2447" y="29718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C2A33"/>
                </a:solidFill>
                <a:latin typeface="Microsoft JhengHei"/>
              </a:rPr>
              <a:t>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2367" y="3611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C2A33"/>
                </a:solidFill>
                <a:latin typeface="Microsoft JhengHei"/>
              </a:rPr>
              <a:t>上傳設計圖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2367" y="3977639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878"/>
                </a:solidFill>
                <a:latin typeface="Microsoft JhengHei"/>
              </a:rPr>
              <a:t>把客戶想看的
那個空間照片丟上來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29887" y="338328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 i="0">
                <a:solidFill>
                  <a:srgbClr val="9B98A8"/>
                </a:solidFill>
                <a:latin typeface="Helvetica Neue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95647" y="2743200"/>
            <a:ext cx="32004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6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69967" y="2971800"/>
            <a:ext cx="502920" cy="502920"/>
          </a:xfrm>
          <a:prstGeom prst="ellipse">
            <a:avLst/>
          </a:prstGeom>
          <a:solidFill>
            <a:srgbClr val="5B8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69967" y="299923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0047" y="29718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C2A33"/>
                </a:solidFill>
                <a:latin typeface="Microsoft JhengHei"/>
              </a:rPr>
              <a:t>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9967" y="3611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C2A33"/>
                </a:solidFill>
                <a:latin typeface="Microsoft JhengHei"/>
              </a:rPr>
              <a:t>筆刷塗一塗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9967" y="3977639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878"/>
                </a:solidFill>
                <a:latin typeface="Microsoft JhengHei"/>
              </a:rPr>
              <a:t>用滑鼠圈出
想換成石材的地方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7487" y="338328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 i="0">
                <a:solidFill>
                  <a:srgbClr val="9B98A8"/>
                </a:solidFill>
                <a:latin typeface="Helvetica Neue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3247" y="2743200"/>
            <a:ext cx="32004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6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27567" y="2971800"/>
            <a:ext cx="502920" cy="502920"/>
          </a:xfrm>
          <a:prstGeom prst="ellipse">
            <a:avLst/>
          </a:prstGeom>
          <a:solidFill>
            <a:srgbClr val="5B8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7567" y="299923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7647" y="29718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C2A33"/>
                </a:solidFill>
                <a:latin typeface="Microsoft JhengHei"/>
              </a:rPr>
              <a:t>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7567" y="3611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C2A33"/>
                </a:solidFill>
                <a:latin typeface="Microsoft JhengHei"/>
              </a:rPr>
              <a:t>AI 自動合成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7567" y="3977639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878"/>
                </a:solidFill>
                <a:latin typeface="Microsoft JhengHei"/>
              </a:rPr>
              <a:t>挑塊石材按按鈕
30 秒看到完成圖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6878"/>
                </a:solidFill>
                <a:latin typeface="Microsoft JhengHei"/>
              </a:rPr>
              <a:t>這樣做有什麼好？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0867" y="480060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D1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6627" y="5074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2C2A33"/>
                </a:solidFill>
                <a:latin typeface="Microsoft JhengHei"/>
              </a:rPr>
              <a:t>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38147" y="498348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8870"/>
                </a:solidFill>
                <a:latin typeface="Helvetica Neue"/>
              </a:rPr>
              <a:t>60×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6627" y="566928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2A33"/>
                </a:solidFill>
                <a:latin typeface="Microsoft JhengHei"/>
              </a:rPr>
              <a:t>提案更快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627" y="594360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878"/>
                </a:solidFill>
                <a:latin typeface="Microsoft JhengHei"/>
              </a:rPr>
              <a:t>原本 30 分鐘 · 現在 30 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35627" y="480060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01387" y="5074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2C2A33"/>
                </a:solidFill>
                <a:latin typeface="Microsoft JhengHei"/>
              </a:rPr>
              <a:t>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32907" y="498348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92580A"/>
                </a:solidFill>
                <a:latin typeface="Helvetica Neue"/>
              </a:rPr>
              <a:t>NT$0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1387" y="566928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2A33"/>
                </a:solidFill>
                <a:latin typeface="Microsoft JhengHei"/>
              </a:rPr>
              <a:t>月費全免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1387" y="594360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878"/>
                </a:solidFill>
                <a:latin typeface="Microsoft JhengHei"/>
              </a:rPr>
              <a:t>沒人用就 0 元 · 用多少付多少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0387" y="480060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D7F0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96147" y="5074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2C2A33"/>
                </a:solidFill>
                <a:latin typeface="Microsoft JhengHei"/>
              </a:rPr>
              <a:t>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27667" y="498348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D7C2D"/>
                </a:solidFill>
                <a:latin typeface="Helvetica Neue"/>
              </a:rPr>
              <a:t>3 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96147" y="566928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2A33"/>
                </a:solidFill>
                <a:latin typeface="Microsoft JhengHei"/>
              </a:rPr>
              <a:t>剩料再生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96147" y="594360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878"/>
                </a:solidFill>
                <a:latin typeface="Microsoft JhengHei"/>
              </a:rPr>
              <a:t>本來會被淘汰的 · 變成新選擇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B98A8"/>
                </a:solidFill>
                <a:latin typeface="Microsoft JhengHei"/>
              </a:rPr>
              <a:t>讓每一塊石材，找到對的設計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64465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B98A8"/>
                </a:solidFill>
                <a:latin typeface="Helvetica Neue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