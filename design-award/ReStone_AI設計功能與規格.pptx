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RESTONE 循環石材服務平台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 lang="zh-TW">
                <a:solidFill>
                  <a:srgbClr val="F2F6FF"/>
                </a:solidFill>
                <a:latin typeface="Noto Sans TC"/>
              </a:rPr>
              <a:t>AI 設計功能</a:t>
            </a:r>
          </a:p>
          <a:p>
            <a:pPr algn="l">
              <a:spcAft>
                <a:spcPts val="600"/>
              </a:spcAft>
            </a:pPr>
            <a:r>
              <a:rPr sz="5400" b="1" lang="zh-TW">
                <a:solidFill>
                  <a:srgbClr val="22D3EE"/>
                </a:solidFill>
                <a:latin typeface="Noto Sans TC"/>
              </a:rPr>
              <a:t>與技術規格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lang="zh-TW">
                <a:solidFill>
                  <a:srgbClr val="A8B6CC"/>
                </a:solidFill>
                <a:latin typeface="Noto Sans TC"/>
              </a:rPr>
              <a:t>一個平台，整合多項 AI 設計工具，讓設計師把循環石材即時帶進設計、加速完成高值化產品。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OVERVIEW · 功能總覽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lang="zh-TW">
                <a:solidFill>
                  <a:srgbClr val="F2F6FF"/>
                </a:solidFill>
                <a:latin typeface="Noto Sans TC"/>
              </a:rPr>
              <a:t>四項 AI 設計工具 + 輔助引擎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60604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22D3EE"/>
                </a:solidFill>
                <a:latin typeface="Noto Sans TC"/>
              </a:rPr>
              <a:t>核心 · 材質模擬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把循環石材真實紋理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套用到設計圖指定區域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0168" y="2286000"/>
            <a:ext cx="260604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22D3EE"/>
                </a:solidFill>
                <a:latin typeface="Noto Sans TC"/>
              </a:rPr>
              <a:t>核心 · 牆面模擬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點選四角，正確透視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與比例即時貼上石材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286000"/>
            <a:ext cx="260604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22D3EE"/>
                </a:solidFill>
                <a:latin typeface="Noto Sans TC"/>
              </a:rPr>
              <a:t>核心 · 草圖渲染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手繪草圖 + 石材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→ 寫實產品渲染圖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4584" y="2286000"/>
            <a:ext cx="260604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34D399"/>
                </a:solidFill>
                <a:latin typeface="Noto Sans TC"/>
              </a:rPr>
              <a:t>輔助 · 辨識/搜圖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AI 看石材寫描述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以圖找相似石材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lang="zh-TW">
                <a:solidFill>
                  <a:srgbClr val="A8B6CC"/>
                </a:solidFill>
                <a:latin typeface="Noto Sans TC"/>
              </a:rPr>
              <a:t>加值串接：減碳效益計算、設計提案 PDF、我的設計歷史、後台展覽圖庫。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FEATURE 01 · 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lang="zh-TW">
                <a:solidFill>
                  <a:srgbClr val="F2F6FF"/>
                </a:solidFill>
                <a:latin typeface="Noto Sans TC"/>
              </a:rPr>
              <a:t>材質模擬　Material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lang="zh-TW">
                <a:solidFill>
                  <a:srgbClr val="A8B6CC"/>
                </a:solidFill>
                <a:latin typeface="Noto Sans TC"/>
              </a:rPr>
              <a:t>上傳設計圖或空間照片，圈選要替換的區域，AI 把所選循環石材的真實材質貼上去，即時預覽。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521208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・筆刷塗選 + 拖放上傳（支援 HEIC）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・主力：Gemini 參考圖編輯，以實際石材照片為依據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・後備：Flux Fill Pro 文字 inpainting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・結果存入「我的設計」、可出提案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971800"/>
            <a:ext cx="512064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・模型：gemini-2.5-flash-image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・後備：flux-fill-pro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・成本：約 NT$1.2 / 張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・權限：僅限登入會員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FEATURE 02 · 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lang="zh-TW">
                <a:solidFill>
                  <a:srgbClr val="F2F6FF"/>
                </a:solidFill>
                <a:latin typeface="Noto Sans TC"/>
              </a:rPr>
              <a:t>牆面模擬　Wall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lang="zh-TW">
                <a:solidFill>
                  <a:srgbClr val="A8B6CC"/>
                </a:solidFill>
                <a:latin typeface="Noto Sans TC"/>
              </a:rPr>
              <a:t>點選牆面四角、輸入實際尺寸，以幾何運算精準貼合——透視與比例皆數學精準，並同步顯示用量、庫存與減碳。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521208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・四角點選（支援觸控、可拖曳微調）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・透視投影 + 依實際尺寸算拼貼片數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・棋盤鏡像對花、可選拼縫線、光影轉移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・同步：拼貼計畫 / 庫存檢查 / 減碳效益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971800"/>
            <a:ext cx="512064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・引擎：本地幾何運算（Pillow + NumPy）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・成本：免費・即時出圖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・選配：Gemini AI 擬真強化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・適用：平整牆面 / 桌面 / 地板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FEATURE 03 · 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lang="zh-TW">
                <a:solidFill>
                  <a:srgbClr val="F2F6FF"/>
                </a:solidFill>
                <a:latin typeface="Noto Sans TC"/>
              </a:rPr>
              <a:t>草圖渲染　Sketch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lang="zh-TW">
                <a:solidFill>
                  <a:srgbClr val="A8B6CC"/>
                </a:solidFill>
                <a:latin typeface="Noto Sans TC"/>
              </a:rPr>
              <a:t>上傳手繪草圖或概念線稿，選一塊循環石材，補一句描述，AI 生成寫實產品渲染圖——概念秒變提案。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521208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・草圖 + 石材 + 文字描述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・免遮罩：整張草圖即產品造型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・輸出工作室等級渲染（可當型錄主圖）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・自動存入「我的設計」、可出提案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971800"/>
            <a:ext cx="512064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・模型：gemini-2.5-flash-image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・成本：約 NT$1.2 / 張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・輸入：JPG / PNG / HEIC / WebP</a:t>
            </a:r>
          </a:p>
          <a:p>
            <a:pPr algn="l">
              <a:spcAft>
                <a:spcPts val="8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・權限：僅限登入會員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SUPPORTING · 輔助引擎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lang="zh-TW">
                <a:solidFill>
                  <a:srgbClr val="F2F6FF"/>
                </a:solidFill>
                <a:latin typeface="Noto Sans TC"/>
              </a:rPr>
              <a:t>讓設計更聰明的底層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520440" cy="32918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22D3EE"/>
                </a:solidFill>
                <a:latin typeface="Noto Sans TC"/>
              </a:rPr>
              <a:t>視覺辨識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AI「看」石材照片自動產生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精準材質描述並快取重用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模型：gemini-2.5-flash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後備：LLaVA v1.6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4568" y="2286000"/>
            <a:ext cx="3520440" cy="32918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22D3EE"/>
                </a:solidFill>
                <a:latin typeface="Noto Sans TC"/>
              </a:rPr>
              <a:t>以圖搜圖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上傳參考圖，pHash 感知雜湊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+ HSV 色彩比對找相似石材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本地運算・免費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ImageHash + 色彩分析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66176" y="2286000"/>
            <a:ext cx="3520440" cy="32918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22D3EE"/>
                </a:solidFill>
                <a:latin typeface="Noto Sans TC"/>
              </a:rPr>
              <a:t>三層 Prompt 工程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管理員自訂 ＞ 視覺 AI 描述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＞ 模板後備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自動快取至資料庫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設計師可即時微調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VALUE-ADD · 加值串接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lang="zh-TW">
                <a:solidFill>
                  <a:srgbClr val="F2F6FF"/>
                </a:solidFill>
                <a:latin typeface="Noto Sans TC"/>
              </a:rPr>
              <a:t>從「看效果」到「可成案」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60604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34D399"/>
                </a:solidFill>
                <a:latin typeface="Noto Sans TC"/>
              </a:rPr>
              <a:t>減碳效益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依體積 × ICE Database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v3.0 碳係數自動計算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等效樹／車換算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0168" y="2286000"/>
            <a:ext cx="260604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34D399"/>
                </a:solidFill>
                <a:latin typeface="Noto Sans TC"/>
              </a:rPr>
              <a:t>提案 PDF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一鍵產出 A4 提案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效果圖+規格+減碳+供應商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內嵌中文字型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286000"/>
            <a:ext cx="260604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34D399"/>
                </a:solidFill>
                <a:latin typeface="Noto Sans TC"/>
              </a:rPr>
              <a:t>我的設計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每位會員自動保留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最近 30 張合成作品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回顧設計發展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4584" y="2286000"/>
            <a:ext cx="2606040" cy="31089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 lang="zh-TW">
                <a:solidFill>
                  <a:srgbClr val="34D399"/>
                </a:solidFill>
                <a:latin typeface="Noto Sans TC"/>
              </a:rPr>
              <a:t>展覽圖庫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後台 Gemini 批次生成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石材 × 情境展示圖</a:t>
            </a:r>
          </a:p>
          <a:p>
            <a:pPr algn="l">
              <a:spcAft>
                <a:spcPts val="500"/>
              </a:spcAft>
            </a:pPr>
            <a:r>
              <a:rPr sz="1100" b="0" lang="zh-TW">
                <a:solidFill>
                  <a:srgbClr val="A8B6CC"/>
                </a:solidFill>
                <a:latin typeface="Noto Sans TC"/>
              </a:rPr>
              <a:t>供展覽使用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ARCHITECTURE · 技術規格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lang="zh-TW">
                <a:solidFill>
                  <a:srgbClr val="F2F6FF"/>
                </a:solidFill>
                <a:latin typeface="Noto Sans TC"/>
              </a:rPr>
              <a:t>多引擎架構與規格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2011680"/>
              </a:tblGrid>
              <a:tr h="5257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lang="zh-TW">
                          <a:solidFill>
                            <a:srgbClr val="22D3EE"/>
                          </a:solidFill>
                          <a:latin typeface="Noto Sans TC"/>
                        </a:rPr>
                        <a:t>項目</a:t>
                      </a:r>
                    </a:p>
                  </a:txBody>
                  <a:tcPr anchor="ctr" marL="109728" marR="109728" marT="45720" marB="45720">
                    <a:solidFill>
                      <a:srgbClr val="102A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lang="zh-TW">
                          <a:solidFill>
                            <a:srgbClr val="22D3EE"/>
                          </a:solidFill>
                          <a:latin typeface="Noto Sans TC"/>
                        </a:rPr>
                        <a:t>規格 / 模型</a:t>
                      </a:r>
                    </a:p>
                  </a:txBody>
                  <a:tcPr anchor="ctr" marL="109728" marR="109728" marT="45720" marB="45720">
                    <a:solidFill>
                      <a:srgbClr val="102A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lang="zh-TW">
                          <a:solidFill>
                            <a:srgbClr val="22D3EE"/>
                          </a:solidFill>
                          <a:latin typeface="Noto Sans TC"/>
                        </a:rPr>
                        <a:t>成本</a:t>
                      </a:r>
                    </a:p>
                  </a:txBody>
                  <a:tcPr anchor="ctr" marL="109728" marR="109728" marT="45720" marB="45720">
                    <a:solidFill>
                      <a:srgbClr val="102A3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lang="zh-TW">
                          <a:solidFill>
                            <a:srgbClr val="F2F6FF"/>
                          </a:solidFill>
                          <a:latin typeface="Noto Sans TC"/>
                        </a:rPr>
                        <a:t>材質模擬（主力）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Gemini 2.5 Flash Image 參考圖編輯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~NT$1.2/張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lang="zh-TW">
                          <a:solidFill>
                            <a:srgbClr val="F2F6FF"/>
                          </a:solidFill>
                          <a:latin typeface="Noto Sans TC"/>
                        </a:rPr>
                        <a:t>材質模擬（後備）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Flux Fill Pro（Replicate）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~NT$1.6/張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lang="zh-TW">
                          <a:solidFill>
                            <a:srgbClr val="F2F6FF"/>
                          </a:solidFill>
                          <a:latin typeface="Noto Sans TC"/>
                        </a:rPr>
                        <a:t>草圖渲染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Gemini 2.5 Flash Image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~NT$1.2/張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lang="zh-TW">
                          <a:solidFill>
                            <a:srgbClr val="F2F6FF"/>
                          </a:solidFill>
                          <a:latin typeface="Noto Sans TC"/>
                        </a:rPr>
                        <a:t>牆面模擬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本地透視幾何運算（Pillow+NumPy）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免費・即時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lang="zh-TW">
                          <a:solidFill>
                            <a:srgbClr val="F2F6FF"/>
                          </a:solidFill>
                          <a:latin typeface="Noto Sans TC"/>
                        </a:rPr>
                        <a:t>視覺辨識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Gemini 2.5 Flash（後備 LLaVA）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極低/免費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lang="zh-TW">
                          <a:solidFill>
                            <a:srgbClr val="F2F6FF"/>
                          </a:solidFill>
                          <a:latin typeface="Noto Sans TC"/>
                        </a:rPr>
                        <a:t>以圖搜圖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pHash 感知雜湊 + HSV 色彩比對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免費・本地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lang="zh-TW">
                          <a:solidFill>
                            <a:srgbClr val="F2F6FF"/>
                          </a:solidFill>
                          <a:latin typeface="Noto Sans TC"/>
                        </a:rPr>
                        <a:t>部署/儲存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Flask+Gunicorn · Railway · SQLite+Volume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lang="zh-TW">
                          <a:solidFill>
                            <a:srgbClr val="A8B6CC"/>
                          </a:solidFill>
                          <a:latin typeface="Noto Sans TC"/>
                        </a:rPr>
                        <a:t>—</a:t>
                      </a:r>
                    </a:p>
                  </a:txBody>
                  <a:tcPr anchor="ctr" marL="109728" marR="109728" marT="45720" marB="45720"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STRATEGY · 成本與合規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lang="zh-TW">
                <a:solidFill>
                  <a:srgbClr val="F2F6FF"/>
                </a:solidFill>
                <a:latin typeface="Noto Sans TC"/>
              </a:rPr>
              <a:t>務實的資源控管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520440" cy="27432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3000" b="1" lang="zh-TW">
                <a:solidFill>
                  <a:srgbClr val="34D399"/>
                </a:solidFill>
                <a:latin typeface="Noto Sans TC"/>
              </a:rPr>
              <a:t>4 / 7</a:t>
            </a:r>
          </a:p>
          <a:p>
            <a:pPr algn="l">
              <a:spcAft>
                <a:spcPts val="500"/>
              </a:spcAft>
            </a:pPr>
            <a:r>
              <a:rPr sz="1300" b="0" lang="zh-TW">
                <a:solidFill>
                  <a:srgbClr val="A8B6CC"/>
                </a:solidFill>
                <a:latin typeface="Noto Sans TC"/>
              </a:rPr>
              <a:t>逾半數引擎為本地或免費運算</a:t>
            </a:r>
          </a:p>
          <a:p>
            <a:pPr algn="l">
              <a:spcAft>
                <a:spcPts val="500"/>
              </a:spcAft>
            </a:pPr>
            <a:r>
              <a:rPr sz="1300" b="0" lang="zh-TW">
                <a:solidFill>
                  <a:srgbClr val="A8B6CC"/>
                </a:solidFill>
                <a:latin typeface="Noto Sans TC"/>
              </a:rPr>
              <a:t>（牆面模擬、以圖搜圖、色彩偵測）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4568" y="2286000"/>
            <a:ext cx="3520440" cy="27432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3000" b="1" lang="zh-TW">
                <a:solidFill>
                  <a:srgbClr val="22D3EE"/>
                </a:solidFill>
                <a:latin typeface="Noto Sans TC"/>
              </a:rPr>
              <a:t>會員制</a:t>
            </a:r>
          </a:p>
          <a:p>
            <a:pPr algn="l">
              <a:spcAft>
                <a:spcPts val="500"/>
              </a:spcAft>
            </a:pPr>
            <a:r>
              <a:rPr sz="1300" b="0" lang="zh-TW">
                <a:solidFill>
                  <a:srgbClr val="A8B6CC"/>
                </a:solidFill>
                <a:latin typeface="Noto Sans TC"/>
              </a:rPr>
              <a:t>AI 工具僅限登入會員</a:t>
            </a:r>
          </a:p>
          <a:p>
            <a:pPr algn="l">
              <a:spcAft>
                <a:spcPts val="500"/>
              </a:spcAft>
            </a:pPr>
            <a:r>
              <a:rPr sz="1300" b="0" lang="zh-TW">
                <a:solidFill>
                  <a:srgbClr val="A8B6CC"/>
                </a:solidFill>
                <a:latin typeface="Noto Sans TC"/>
              </a:rPr>
              <a:t>保護運算資源、避免成本暴衝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66176" y="2286000"/>
            <a:ext cx="3520440" cy="27432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2A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3000" b="1" lang="zh-TW">
                <a:solidFill>
                  <a:srgbClr val="8B5CF6"/>
                </a:solidFill>
                <a:latin typeface="Noto Sans TC"/>
              </a:rPr>
              <a:t>無中資</a:t>
            </a:r>
          </a:p>
          <a:p>
            <a:pPr algn="l">
              <a:spcAft>
                <a:spcPts val="500"/>
              </a:spcAft>
            </a:pPr>
            <a:r>
              <a:rPr sz="1300" b="0" lang="zh-TW">
                <a:solidFill>
                  <a:srgbClr val="A8B6CC"/>
                </a:solidFill>
                <a:latin typeface="Noto Sans TC"/>
              </a:rPr>
              <a:t>技術堆疊皆非中資來源</a:t>
            </a:r>
          </a:p>
          <a:p>
            <a:pPr algn="l">
              <a:spcAft>
                <a:spcPts val="500"/>
              </a:spcAft>
            </a:pPr>
            <a:r>
              <a:rPr sz="1300" b="0" lang="zh-TW">
                <a:solidFill>
                  <a:srgbClr val="A8B6CC"/>
                </a:solidFill>
                <a:latin typeface="Noto Sans TC"/>
              </a:rPr>
              <a:t>Google / BFL / 開源，合規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lang="zh-TW">
                <a:solidFill>
                  <a:srgbClr val="A8B6CC"/>
                </a:solidFill>
                <a:latin typeface="Noto Sans TC"/>
              </a:rPr>
              <a:t>主力以 Gemini，失敗自動退回 Flux；牆面模擬走本地運算。穩定、低成本、可隨 AI 技術演進同步升級。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lang="zh-TW">
                <a:solidFill>
                  <a:srgbClr val="22D3EE"/>
                </a:solidFill>
                <a:latin typeface="Noto Sans T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lang="zh-TW">
                <a:solidFill>
                  <a:srgbClr val="F2F6FF"/>
                </a:solidFill>
                <a:latin typeface="Noto Sans TC"/>
              </a:rPr>
              <a:t>AI × 循環石材</a:t>
            </a:r>
          </a:p>
          <a:p>
            <a:pPr algn="l">
              <a:spcAft>
                <a:spcPts val="600"/>
              </a:spcAft>
            </a:pPr>
            <a:r>
              <a:rPr sz="4600" b="1" lang="zh-TW">
                <a:solidFill>
                  <a:srgbClr val="22D3EE"/>
                </a:solidFill>
                <a:latin typeface="Noto Sans TC"/>
              </a:rPr>
              <a:t>加速高值化設計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lang="zh-TW">
                <a:solidFill>
                  <a:srgbClr val="A8B6CC"/>
                </a:solidFill>
                <a:latin typeface="Noto Sans TC"/>
              </a:rPr>
              <a:t>把「找到 → 設計 → 成案」一氣呵成——讓每一塊循環石材，都能再次被好好使用。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zh-TW">
                <a:solidFill>
                  <a:srgbClr val="A8B6CC"/>
                </a:solidFill>
                <a:latin typeface="Noto Sans TC"/>
              </a:rPr>
              <a:t>ReStone 循環石材服務平台　·　支持循環經濟，讓石材物盡其用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